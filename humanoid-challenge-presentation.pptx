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5" r:id="rId17"/>
    <p:sldId id="261" r:id="rId13"/>
    <p:sldId id="266" r:id="rId18"/>
    <p:sldId id="267" r:id="rId19"/>
    <p:sldId id="268" r:id="rId20"/>
    <p:sldId id="262" r:id="rId14"/>
    <p:sldId id="269" r:id="rId21"/>
    <p:sldId id="263" r:id="rId15"/>
    <p:sldId id="270" r:id="rId22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6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2.xml"/><Relationship Id="rId22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lerobot/smolvla_libero</c:v>
                </c:pt>
              </c:strCache>
            </c:strRef>
          </c:tx>
          <c:spPr>
            <a:solidFill>
              <a:srgbClr val="1F8A84"/>
            </a:solidFill>
          </c:spPr>
          <c:cat>
            <c:strRef>
              <c:f>Sheet1!$A$2:$A$6</c:f>
              <c:strCache>
                <c:ptCount val="5"/>
                <c:pt idx="0">
                  <c:v>1  Stock</c:v>
                </c:pt>
                <c:pt idx="1">
                  <c:v>2  Cleared, LIBERO layout</c:v>
                </c:pt>
                <c:pt idx="2">
                  <c:v>3  Cleared, new layout</c:v>
                </c:pt>
                <c:pt idx="3">
                  <c:v>4  Real size, LIBERO layout</c:v>
                </c:pt>
                <c:pt idx="4">
                  <c:v>5  Real size, new layout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6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HuggingFaceVLA/smolvla_libero</c:v>
                </c:pt>
              </c:strCache>
            </c:strRef>
          </c:tx>
          <c:spPr>
            <a:solidFill>
              <a:srgbClr val="E06A1F"/>
            </a:solidFill>
          </c:spPr>
          <c:cat>
            <c:strRef>
              <c:f>Sheet1!$A$2:$A$6</c:f>
              <c:strCache>
                <c:ptCount val="5"/>
                <c:pt idx="0">
                  <c:v>1  Stock</c:v>
                </c:pt>
                <c:pt idx="1">
                  <c:v>2  Cleared, LIBERO layout</c:v>
                </c:pt>
                <c:pt idx="2">
                  <c:v>3  Cleared, new layout</c:v>
                </c:pt>
                <c:pt idx="3">
                  <c:v>4  Real size, LIBERO layout</c:v>
                </c:pt>
                <c:pt idx="4">
                  <c:v>5  Real size, new layout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3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A96A0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200" b="0"/>
                  <a:t>successes of 10 episodes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Successes of 20</c:v>
                </c:pt>
              </c:strCache>
            </c:strRef>
          </c:tx>
          <c:dPt>
            <c:idx val="0"/>
            <c:spPr>
              <a:solidFill>
                <a:srgbClr val="8A96A0"/>
              </a:solidFill>
            </c:spPr>
          </c:dPt>
          <c:dPt>
            <c:idx val="1"/>
            <c:spPr>
              <a:solidFill>
                <a:srgbClr val="8A96A0"/>
              </a:solidFill>
            </c:spPr>
          </c:dPt>
          <c:dPt>
            <c:idx val="2"/>
            <c:spPr>
              <a:solidFill>
                <a:srgbClr val="5B9BD5"/>
              </a:solidFill>
            </c:spPr>
          </c:dPt>
          <c:dPt>
            <c:idx val="3"/>
            <c:spPr>
              <a:solidFill>
                <a:srgbClr val="1F8A84"/>
              </a:solidFill>
            </c:spPr>
          </c:dPt>
          <c:cat>
            <c:strRef>
              <c:f>Sheet1!$A$2:$A$5</c:f>
              <c:strCache>
                <c:ptCount val="4"/>
                <c:pt idx="0">
                  <c:v>HuggingFaceVLA/smolvla_libero</c:v>
                </c:pt>
                <c:pt idx="1">
                  <c:v>lerobot/smolvla_libero</c:v>
                </c:pt>
                <c:pt idx="2">
                  <c:v>ours, smolvla_base init</c:v>
                </c:pt>
                <c:pt idx="3">
                  <c:v>ours, smolvla_libero init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14</c:v>
                </c:pt>
              </c:numCache>
            </c:numRef>
          </c:val>
        </c:ser>
        <c:dLbls>
          <c:numFmt formatCode="0&quot; / 20&quot;" sourceLinked="0"/>
          <c:txPr>
            <a:bodyPr/>
            <a:lstStyle/>
            <a:p>
              <a:pPr>
                <a:defRPr sz="14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0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phone films my hand; the robot learns from data derived from that video, in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research question. Constraints drive every design choice: one 16 GB GPU, no robot, no depth sensor, about one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row happens in the real world, bottom row in simulation. The human video is a motion-capture device; SmolVLA never sees a real pixel.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parts to the real-to-sim gap: appearance (real vs rendered pixels), embodiment (hand vs gripper), timing and dynamics, object geometry. The four solutions treat them differently. Solution 1 is built as a tool only. 2 and 3 are the splat stretch. 4 is the core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baseline avoids the visual gap rather than closing it. Splats only reduce it for illustration. Current state from README section 7 and D-010/D-011: nothing is trained on our data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from the overlay video of one real clip (notebook 11), the same overlay as in results/recorded_dataset/episode_0.mp4, which also shows the TCP path and aperture curves. Marker outlines, hand skeleton, projected TCP path and gripper symbol. Nothing here is a policy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examples/09_smolvla_benchmark.ipynb, eval/pretrained_libero_checkpoints, D-011. replan 10, 300 steps, 10 episodes per cell (HuggingFaceVLA in real size, LIBERO layout: 8). Same layout seeds for both checkpoints. No training by us. Cause of the failures is not established; removing the other objects alone already lowers success (stock 10/10 to 6/10).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Scene scan: data/splats/table_zoom_02_03_scene.ply, 3D view rendered after cutting to x -0.39..1.66, y -0.79..0.61, z -2.71..1.01 (notebook 09, section 4). Images are from notebook 08 (held-out photo vs splat, bowl and plate renders, composite in LIBERO). The LIBERO image is notebook 01, part 3: scanned bowl and shape-prior-filled plate, scaled to the measurements. This is an illustration of visual fidelity, not a trained or evaluated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Cut order if late: splat stretch, robot overlay, multiplier plot. Never cut: the twin side-by-side and the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hyperlink" Target="https://github.com/alfredowh/hurobo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7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8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10" Type="http://schemas.openxmlformats.org/officeDocument/2006/relationships/image" Target="../media/gen0.gif"/><Relationship Id="rId11" Type="http://schemas.openxmlformats.org/officeDocument/2006/relationships/image" Target="../media/gen1.gif"/><Relationship Id="rId12" Type="http://schemas.openxmlformats.org/officeDocument/2006/relationships/image" Target="../media/gen2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9.gif"/><Relationship Id="rId8" Type="http://schemas.openxmlformats.org/officeDocument/2006/relationships/image" Target="../media/image10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 /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Cambria"/>
              </a:rPr>
              <a:t>hurobo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Calibri"/>
              </a:rPr>
              <a:t>From phone video of a human hand to a robot policy in simulation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6692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88920" y="5669280"/>
            <a:ext cx="457200" cy="329184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5669280"/>
            <a:ext cx="18288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Sim</a:t>
            </a:r>
          </a:p>
        </p:txBody>
      </p:sp>
      <p:pic>
        <p:nvPicPr>
          <p:cNvPr id="8" name="Synchronised frame (18 s)" descr="Recorded human demo (left) next to the LIBERO replay (right), 18 s into test_03_synchronised.mp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0000" y="4100000"/>
            <a:ext cx="5900000" cy="2122939"/>
          </a:xfrm>
          <a:prstGeom prst="rect">
            <a:avLst/>
          </a:prstGeom>
        </p:spPr>
      </p:pic>
      <p:sp>
        <p:nvSpPr>
          <p:cNvPr id="9" name="Repository link">
            <a:hlinkClick r:id="rId4"/>
          </p:cNvPr>
          <p:cNvSpPr txBox="1"/>
          <p:nvPr/>
        </p:nvSpPr>
        <p:spPr>
          <a:xfrm>
            <a:off x="822960" y="4480560"/>
            <a:ext cx="5000000" cy="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1600" u="sng">
                <a:solidFill>
                  <a:srgbClr val="8FD3CB"/>
                </a:solidFill>
                <a:latin typeface="Calibri"/>
              </a:rPr>
              <a:t>github.com/alfredowh/hurobo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The question: can human video help?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2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4023360" cy="44805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3383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Can human videos improve a small VLA on a new layout and a new object?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572000"/>
            <a:ext cx="3383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9D3DA"/>
                </a:solidFill>
                <a:latin typeface="Calibri"/>
              </a:rPr>
              <a:t>Test case: SmolVLA (450M), bowl onto plate in LIBERO, trained only on data from a phone video of a hand. Simulation only.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554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66360" y="1828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691639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One 16 GB GPU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057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450M model in bf16, no 3B/7B models.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2697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166360" y="2971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834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Phone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00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~15 tripod clips. One camera, no depth sensor, no glove.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3840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166360" y="4114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3977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8 – 16 October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4343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Start of the project to the deadline.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4983480"/>
            <a:ext cx="6675120" cy="10058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66360" y="525780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5120640"/>
            <a:ext cx="5577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libri"/>
              </a:rPr>
              <a:t>No physical robot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548640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Success rate in LIBERO is the only metric.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Pipeline: hand video in, robot demos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3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Tripod phone, ChArUco-calibrated. ArUco markers on table, bowl, plate.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77639" y="2560320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62855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91455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1536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5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Hand TCP (thumb/index midpoint), grasp from pinch, object poses, in the table frame.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91855" y="2560320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7072" y="178308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05672" y="201168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45751" y="2057400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Twin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5672" y="265176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Copy real layout and camera into LIBERO. Real vs. sim side-by-side replay.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Multiply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Split demo into object-relative segments, retarget to many sim poses, keep only successes.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977639" y="4983479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62855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91455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1536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Train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91455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Fine-tune SmolVLA from smolvla_base (never saw LIBERO) on generated data only.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991855" y="4983479"/>
            <a:ext cx="402336" cy="365760"/>
          </a:xfrm>
          <a:prstGeom prst="rightArrow">
            <a:avLst/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77072" y="4206240"/>
            <a:ext cx="3246120" cy="192024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805672" y="4434840"/>
            <a:ext cx="457200" cy="457200"/>
          </a:xfrm>
          <a:prstGeom prst="ellipse">
            <a:avLst/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45751" y="4480559"/>
            <a:ext cx="21488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632"/>
                </a:solidFill>
                <a:latin typeface="Cambria"/>
              </a:rPr>
              <a:t>Evaluate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5672" y="5074920"/>
            <a:ext cx="2788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lerobot-eval, N = 50, success rate with 95% CI against baselines.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8A84"/>
                </a:solidFill>
                <a:latin typeface="Calibri"/>
              </a:rPr>
              <a:t>REAL WORLD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858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06A1F"/>
                </a:solidFill>
                <a:latin typeface="Calibri"/>
              </a:rPr>
              <a:t>SIMULATION (LIBERO)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Four ways to close the real-to-sim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4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1  Teleoperate in 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Control the Panda by tracked hand or keyboard in the 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No visual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Jerky, slow, few demos. Real recording unused.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Debug tool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2  Scan the objects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Bowl and plate from a phone orbit: video, COLMAP, Gaussian splat, collision mesh.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Objects match; scene stays synthetic.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Scan quality, metric alignment.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6616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3  Scan the whole scene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Splat the table; render sim from the real view; composite robot by depth.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Smallest visual gap.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Alignment, GPU time. Physics still LIBERO.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2560" y="1417320"/>
            <a:ext cx="2651760" cy="484632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0" y="164592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4  Size-matched objects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37744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IDEA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62432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Real-size bowl and plate in LIBERO. 12 clips become 100 demos, MimicGen-style.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361188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GAP LEFT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858768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Size matches; look does not, but the policy sees no real pixels.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484632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B6975"/>
                </a:solidFill>
                <a:latin typeface="Calibri"/>
              </a:rPr>
              <a:t>CATCH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50932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B2632"/>
                </a:solidFill>
                <a:latin typeface="Calibri"/>
              </a:rPr>
              <a:t>Measure objects, print markers.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35440" y="585216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Core path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Main concept and current 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5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459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5544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Motion-only retargeting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9659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Video as motion capture: a few object-relative numbers cross to the sim.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37744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Now: built. 12 of 26 clips usable; 100 demos generated MimicGen-style.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Main visual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200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SceneTwin: real layout in sim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6118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Real clip beside the sim replay from the same viewpoint.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02336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8A84"/>
                </a:solidFill>
                <a:latin typeface="Calibri"/>
              </a:rPr>
              <a:t>Now: built. Recorded episode and sim replay side by side on the next slide.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09160"/>
            <a:ext cx="6675120" cy="150876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9377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Stretch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846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Gaussian-splat objects and scene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5257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Shows visual fidelity, not a trained result.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5669280"/>
            <a:ext cx="4663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B6975"/>
                </a:solidFill>
                <a:latin typeface="Calibri"/>
              </a:rPr>
              <a:t>Now: bowl, plate and scene scanned; bowl and plate shown in LIBERO.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417320"/>
            <a:ext cx="4114800" cy="48006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645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WHO CONTRIBUTES WHAT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14884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Human 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56032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9D3DA"/>
                </a:solidFill>
                <a:latin typeface="Calibri"/>
              </a:rPr>
              <a:t>Approach direction, grasp timing, lift height, carry path, place offset, release timing.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11480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Simulator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52628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C9D3DA"/>
                </a:solidFill>
                <a:latin typeface="Calibri"/>
              </a:rPr>
              <a:t>Exact object poses, geometry and appearance. Fixed top-down gripper orientation, yaw from the object.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SceneTwin: recorded clip and LIBERO replay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6 / 15</a:t>
            </a:r>
          </a:p>
        </p:txBody>
      </p:sp>
      <p:pic>
        <p:nvPicPr>
          <p:cNvPr id="15" name="Replay GIF" descr="dataset_replay_synchronise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11064240" cy="39800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Recorded episode (left, slowed) beside its LIBERO replay (right, paced).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The human demo: hand and markers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7 / 15</a:t>
            </a:r>
          </a:p>
        </p:txBody>
      </p:sp>
      <p:pic>
        <p:nvPicPr>
          <p:cNvPr id="15" name="Picture 14" descr="episode_dashboar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6949440" cy="39090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8120" y="1417320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Markers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719072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ArUco on the plate (id 22) and the bowl pad (id 21); the ChArUco board is the table frame.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404872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706624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MediaPipe skeleton. The TCP is the midpoint of thumb and index tip, in metres in the table frame.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392424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Gripper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694176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Pinch aperture with hysteresis gives open or closed (here: closed).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79976"/>
            <a:ext cx="3794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8A84"/>
                </a:solidFill>
                <a:latin typeface="Cambria"/>
              </a:rPr>
              <a:t>Episode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4681728"/>
            <a:ext cx="3794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199 samples at 20 Hz over 9.9 s, stored as a LeRobot episode.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One real clip, cut to a single grasp cycle. 12 of the 26 recorded clips were cleaned and usable.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1" name="TextBox 10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From 26 clips to 12 usable demos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8 / 15</a:t>
            </a:r>
          </a:p>
        </p:txBody>
      </p:sp>
      <p:sp>
        <p:nvSpPr>
          <p:cNvPr id="103" name="Shape 103"/>
          <p:cNvSpPr/>
          <p:nvPr/>
        </p:nvSpPr>
        <p:spPr>
          <a:xfrm>
            <a:off x="5486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hape 104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13258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Filter frames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7772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Drop frames with no hand or two hands, a marker pose that reprojects badly (over 15 px), a hand at the image border, or depth outside 0.15 to 3 m.</a:t>
            </a:r>
          </a:p>
        </p:txBody>
      </p:sp>
      <p:sp>
        <p:nvSpPr>
          <p:cNvPr id="107" name="Shape 107"/>
          <p:cNvSpPr/>
          <p:nvPr/>
        </p:nvSpPr>
        <p:spPr>
          <a:xfrm>
            <a:off x="33680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Shape 108"/>
          <p:cNvSpPr/>
          <p:nvPr/>
        </p:nvSpPr>
        <p:spPr>
          <a:xfrm>
            <a:off x="35966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41452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Find the cycle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35966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Keep the first gap-free run (gaps up to 0.4 s bridged) that holds open, closed, open. Pinches under 0.2 s and open gaps under 0.3 s count as noise.</a:t>
            </a:r>
          </a:p>
        </p:txBody>
      </p:sp>
      <p:sp>
        <p:nvSpPr>
          <p:cNvPr id="111" name="Shape 111"/>
          <p:cNvSpPr/>
          <p:nvPr/>
        </p:nvSpPr>
        <p:spPr>
          <a:xfrm>
            <a:off x="61874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Shape 112"/>
          <p:cNvSpPr/>
          <p:nvPr/>
        </p:nvSpPr>
        <p:spPr>
          <a:xfrm>
            <a:off x="64160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69646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Cut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64160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Trim from the start of the run to 2 s after the release, so the hand’s retreat is kept.</a:t>
            </a:r>
          </a:p>
        </p:txBody>
      </p:sp>
      <p:sp>
        <p:nvSpPr>
          <p:cNvPr id="115" name="Shape 115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Shape 116"/>
          <p:cNvSpPr/>
          <p:nvPr/>
        </p:nvSpPr>
        <p:spPr>
          <a:xfrm>
            <a:off x="92354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97840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Reject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92354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Drop clips shorter than 1.5 s, or without the board, bowl and plate marker in the first second.</a:t>
            </a:r>
          </a:p>
        </p:txBody>
      </p:sp>
      <p:sp>
        <p:nvSpPr>
          <p:cNvPr id="119" name="Shape 11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2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Result: 12 of the 26 recorded clips are cleaned and usable, each one grasp cycle.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1" name="TextBox 12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Generating the robot demos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9 / 15</a:t>
            </a:r>
          </a:p>
        </p:txBody>
      </p:sp>
      <p:sp>
        <p:nvSpPr>
          <p:cNvPr id="123" name="Shape 123"/>
          <p:cNvSpPr/>
          <p:nvPr/>
        </p:nvSpPr>
        <p:spPr>
          <a:xfrm>
            <a:off x="5486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Shape 124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13258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Sample layout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7772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Draw a random bowl and plate position in the size-matched LIBERO scene.</a:t>
            </a:r>
          </a:p>
        </p:txBody>
      </p:sp>
      <p:sp>
        <p:nvSpPr>
          <p:cNvPr id="127" name="Shape 127"/>
          <p:cNvSpPr/>
          <p:nvPr/>
        </p:nvSpPr>
        <p:spPr>
          <a:xfrm>
            <a:off x="33680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Shape 128"/>
          <p:cNvSpPr/>
          <p:nvPr/>
        </p:nvSpPr>
        <p:spPr>
          <a:xfrm>
            <a:off x="35966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41452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Pick sources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35966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Draw one of the 12 cleaned human demos at random for each rollout.</a:t>
            </a:r>
          </a:p>
        </p:txBody>
      </p:sp>
      <p:sp>
        <p:nvSpPr>
          <p:cNvPr id="131" name="Shape 131"/>
          <p:cNvSpPr/>
          <p:nvPr/>
        </p:nvSpPr>
        <p:spPr>
          <a:xfrm>
            <a:off x="61874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Shape 132"/>
          <p:cNvSpPr/>
          <p:nvPr/>
        </p:nvSpPr>
        <p:spPr>
          <a:xfrm>
            <a:off x="64160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69646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Re-anchor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64160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Approach: the last 20 cm of the hand path, relative to the bowl. Carry: the bowl’s path, relative to the plate, ending over its centre. Both move with the new layout.</a:t>
            </a:r>
          </a:p>
        </p:txBody>
      </p:sp>
      <p:sp>
        <p:nvSpPr>
          <p:cNvPr id="135" name="Shape 135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Shape 136"/>
          <p:cNvSpPr/>
          <p:nvPr/>
        </p:nvSpPr>
        <p:spPr>
          <a:xfrm>
            <a:off x="9235440" y="1645920"/>
            <a:ext cx="457200" cy="457200"/>
          </a:xfrm>
          <a:prstGeom prst="ellipse">
            <a:avLst/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37" name="TextBox 137"/>
          <p:cNvSpPr txBox="1"/>
          <p:nvPr/>
        </p:nvSpPr>
        <p:spPr>
          <a:xfrm>
            <a:off x="9784080" y="1691640"/>
            <a:ext cx="1600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632"/>
                </a:solidFill>
                <a:latin typeface="Cambria"/>
              </a:rPr>
              <a:t>Execute, keep wins</a:t>
            </a:r>
          </a:p>
        </p:txBody>
      </p:sp>
      <p:sp>
        <p:nvSpPr>
          <p:cNvPr id="138" name="TextBox 138"/>
          <p:cNvSpPr txBox="1"/>
          <p:nvPr/>
        </p:nvSpPr>
        <p:spPr>
          <a:xfrm>
            <a:off x="9235440" y="2423160"/>
            <a:ext cx="2148840" cy="2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Grasp at a fixed 4 cm height, fingers facing the rim; release 4 mm over the plate. Run closed loop in LIBERO and keep only the successes.</a:t>
            </a:r>
          </a:p>
        </p:txBody>
      </p:sp>
      <p:sp>
        <p:nvSpPr>
          <p:cNvPr id="139" name="Shape 13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First run, 12 clips: 100 successes of 170 attempts (59 %) in about 40 to 50 min, one process. Failures: 37 bowl not lifted, 33 timeouts.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1" name="TextBox 12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Generated demos: camera 1 and 2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10 / 15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54864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1</a:t>
            </a:r>
          </a:p>
        </p:txBody>
      </p:sp>
      <p:pic>
        <p:nvPicPr>
          <p:cNvPr id="60" name="Generated clip 60" descr="generated clip, camera 1 and camera 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514600"/>
            <a:ext cx="3566160" cy="1783080"/>
          </a:xfrm>
          <a:prstGeom prst="rect">
            <a:avLst/>
          </a:prstGeom>
        </p:spPr>
      </p:pic>
      <p:sp>
        <p:nvSpPr>
          <p:cNvPr id="51" name="TextBox 51"/>
          <p:cNvSpPr txBox="1"/>
          <p:nvPr/>
        </p:nvSpPr>
        <p:spPr>
          <a:xfrm>
            <a:off x="429768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2</a:t>
            </a:r>
          </a:p>
        </p:txBody>
      </p:sp>
      <p:pic>
        <p:nvPicPr>
          <p:cNvPr id="61" name="Generated clip 61" descr="generated clip, camera 1 and camera 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7680" y="2514600"/>
            <a:ext cx="3566160" cy="1783080"/>
          </a:xfrm>
          <a:prstGeom prst="rect">
            <a:avLst/>
          </a:prstGeom>
        </p:spPr>
      </p:pic>
      <p:sp>
        <p:nvSpPr>
          <p:cNvPr id="52" name="TextBox 52"/>
          <p:cNvSpPr txBox="1"/>
          <p:nvPr/>
        </p:nvSpPr>
        <p:spPr>
          <a:xfrm>
            <a:off x="8046720" y="210312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F8A84"/>
                </a:solidFill>
                <a:latin typeface="Cambria"/>
              </a:rPr>
              <a:t>Generated episode 3</a:t>
            </a:r>
          </a:p>
        </p:txBody>
      </p:sp>
      <p:pic>
        <p:nvPicPr>
          <p:cNvPr id="62" name="Generated clip 62" descr="generated clip, camera 1 and camera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46720" y="2514600"/>
            <a:ext cx="3566160" cy="1783080"/>
          </a:xfrm>
          <a:prstGeom prst="rect">
            <a:avLst/>
          </a:prstGeom>
        </p:spPr>
      </p:pic>
      <p:sp>
        <p:nvSpPr>
          <p:cNvPr id="139" name="Shape 139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822960" y="5532120"/>
            <a:ext cx="10515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Objects are scaled to real size (bowl x1.23, plate x1.85 of LIBERO’s). Per clip: camera 1 (agent view) left, camera 2 (wrist) right.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Pretrained SmolVLA: layout and size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11 / 15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325880"/>
          <a:ext cx="612648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3716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1  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164592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LIBERO's own scene and start positions.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19456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2  Cleared, LIBERO layout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468879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Other objects removed; bowl and plate start where LIBERO puts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0175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3  Cleared, new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3291839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Other objects removed; bowl and plate at random positions.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8404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4  Real size, LIBERO 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41148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Bowl and plate at measured real sizes (plate 1.86x wider), LIBERO's placement.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66344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5  Real size, new layout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9377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Real sizes at random positions: the target scene of our experiment.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 new layout alone takes the better checkpoint from 6/10 to 0/10; real-size objects give 0 even on LIBERO's layout. Pretrained weights, 10 episodes per cell: 0/10 means 0 to 28% at 95%.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Our fine-tuned SmolVLA on held-out layouts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12 / 15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486400"/>
            <a:ext cx="10515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Scaled scene, 20 held-out layouts, same for every policy. Starting from smolvla_libero beats starting from smolvla_base (14/20 vs 3/20, intervals do not overlap). One seed; the best checkpoint of each run was picked on other layouts (0 to 9).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1325880"/>
          <a:ext cx="61264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3716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ours, smolvla_libero 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164592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70%  (95% CI 48 to 85%). Open loop: position error 0.075 against 0.137 for an all-zero chunk.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37744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ours, smolvla_base 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65176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15%  (95% CI 5 to 36%)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33832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lerobot/smolvla_libero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6576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0%  (95% CI 0 to 16%). Pretrained, never saw our scene.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43891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632"/>
                </a:solidFill>
                <a:latin typeface="Calibri"/>
              </a:rPr>
              <a:t>HuggingFaceVLA/smolvla_libero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466344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0%  (95% CI 0 to 16%). Open loop: gripper sign right only 41% of the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Future work: photoreal real2sim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13 / 15</a:t>
            </a:r>
          </a:p>
        </p:txBody>
      </p:sp>
      <p:pic>
        <p:nvPicPr>
          <p:cNvPr id="4" name="Picture 3" descr="scene_photo_vs_sp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7863840" cy="1801368"/>
          </a:xfrm>
          <a:prstGeom prst="rect">
            <a:avLst/>
          </a:prstGeom>
        </p:spPr>
      </p:pic>
      <p:pic>
        <p:nvPicPr>
          <p:cNvPr id="15" name="Scene orbit GIF" descr="Sweep over the whole-scene spla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141732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3273552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975"/>
                </a:solidFill>
                <a:latin typeface="Calibri"/>
              </a:rPr>
              <a:t>Whole scene in 3D (splat orbit)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73552"/>
            <a:ext cx="79552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B6975"/>
                </a:solidFill>
                <a:latin typeface="Calibri"/>
              </a:rPr>
              <a:t>Whole scene scan: table, background, bowl, plate. Four held-out views, photo left, splat right</a:t>
            </a:r>
          </a:p>
        </p:txBody>
      </p:sp>
      <p:pic>
        <p:nvPicPr>
          <p:cNvPr id="16" name="Bowl plate orbit GIF" descr="Sweep over the scanned bowl and plat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1910" y="3703320"/>
            <a:ext cx="2896819" cy="1810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577840"/>
            <a:ext cx="4023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Bowl and plate splats cut out of the scan, orbit view.</a:t>
            </a:r>
          </a:p>
        </p:txBody>
      </p:sp>
      <p:pic>
        <p:nvPicPr>
          <p:cNvPr id="10" name="Picture 9" descr="splat_in_libe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3703320"/>
            <a:ext cx="1874519" cy="1810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6320" y="5577840"/>
            <a:ext cx="2286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975"/>
                </a:solidFill>
                <a:latin typeface="Calibri"/>
              </a:rPr>
              <a:t>Scanned bowl and plate inside LIBERO. The table cloth is still LIBERO's.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611880"/>
            <a:ext cx="4206240" cy="26517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37947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06A1F"/>
                </a:solidFill>
                <a:latin typeface="Calibri"/>
              </a:rPr>
              <a:t>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251960"/>
            <a:ext cx="36576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Place the whole-scene splat in LIBERO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Collision meshes for bowl and plate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Composite the mesh robot by depth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Show as visual fidelity, not a trained result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Future work: faster demo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14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Result (7 clips)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Default: 38 to 47 accepted per 100 to 120 attempts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Only 15 to 21 % within 300 steps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Screened MimicGen-style, best run: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100 of 125 (80 %), all within 300 steps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About 4x more usable episodes per attempt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Every episode fits the 300-step evaluation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Drops the 3 of 7 clips that never succeed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Noise and source mixing add variety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6676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Gain is mostly screening, speed, length filter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Control run missing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No policy trained on it yet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7 clips, one session, one seed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Optimization potential, not a result: not used for the 100-episode training set. Notebook 12, D-013.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1B2632"/>
                </a:solidFill>
                <a:latin typeface="Cambria"/>
              </a:rPr>
              <a:t>Limitations and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81360" y="64008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8A96A0"/>
                </a:solidFill>
                <a:latin typeface="Calibri"/>
              </a:rPr>
              <a:t>15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E06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Simulation only, no real robot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Hand vs. gripper, real vs. rendered pixels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One camera, markers required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Fixed top-down grasp, one task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12 usable clips; marker size not measured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1F8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Done, on real clips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26 clips recorded, 12 cleaned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100 generated episodes (100 of 170 rollouts)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SmolVLA fine-tuned: 14/20 from smolvla_libero, 3/20 from smolvla_base; pretrained 0/20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Bowl, plate and scene scanned as splats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11880" cy="3657600"/>
          </a:xfrm>
          <a:prstGeom prst="roundRect">
            <a:avLst>
              <a:gd name="adj" fmla="val 6000"/>
            </a:avLst>
          </a:prstGeom>
          <a:solidFill>
            <a:srgbClr val="EE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66760" y="1691640"/>
            <a:ext cx="3154680" cy="329184"/>
          </a:xfrm>
          <a:prstGeom prst="roundRect">
            <a:avLst>
              <a:gd name="adj" fmla="val 50000"/>
            </a:avLst>
          </a:prstGeom>
          <a:solidFill>
            <a:srgbClr val="8A9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Still open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33172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N = 50 evaluation, more seeds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Zero-shot and open-loop replay baselines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ACT baseline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Scene splat and collision meshes in LIBERO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1B2632"/>
                </a:solidFill>
                <a:latin typeface="Calibri"/>
              </a:rPr>
              <a:t>Train on the faster generation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1B2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94960"/>
            <a:ext cx="105156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Every number in this deck comes from a run in the repo. Failed runs are included. One seed and N = 20: the intervals are wide.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