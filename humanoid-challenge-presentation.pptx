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5" r:id="rId17"/>
    <p:sldId id="261" r:id="rId13"/>
    <p:sldId id="266" r:id="rId18"/>
    <p:sldId id="267" r:id="rId19"/>
    <p:sldId id="268" r:id="rId20"/>
    <p:sldId id="262" r:id="rId14"/>
    <p:sldId id="269" r:id="rId21"/>
    <p:sldId id="263" r:id="rId15"/>
    <p:sldId id="270" r:id="rId22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6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2.xml"/><Relationship Id="rId22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Successes of 20</c:v>
                </c:pt>
              </c:strCache>
            </c:strRef>
          </c:tx>
          <c:dPt>
            <c:idx val="0"/>
            <c:spPr>
              <a:solidFill>
                <a:srgbClr val="8A96A0"/>
              </a:solidFill>
            </c:spPr>
          </c:dPt>
          <c:dPt>
            <c:idx val="1"/>
            <c:spPr>
              <a:solidFill>
                <a:srgbClr val="8A96A0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1F8A84"/>
              </a:solidFill>
            </c:spPr>
          </c:dPt>
          <c:cat>
            <c:strRef>
              <c:f>Sheet1!$A$2:$A$5</c:f>
              <c:strCache>
                <c:ptCount val="4"/>
                <c:pt idx="0">
                  <c:v>HuggingFaceVLA/smolvla_libero</c:v>
                </c:pt>
                <c:pt idx="1">
                  <c:v>lerobot/smolvla_libero</c:v>
                </c:pt>
                <c:pt idx="2">
                  <c:v>ours, smolvla_base init</c:v>
                </c:pt>
                <c:pt idx="3">
                  <c:v>ours, smolvla_libero init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14</c:v>
                </c:pt>
              </c:numCache>
            </c:numRef>
          </c:val>
        </c:ser>
        <c:dLbls>
          <c:numFmt formatCode="0&quot; / 20&quot;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one real clip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github.com/alfredowh/hurob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10" Type="http://schemas.openxmlformats.org/officeDocument/2006/relationships/image" Target="../media/gen0.gif"/><Relationship Id="rId11" Type="http://schemas.openxmlformats.org/officeDocument/2006/relationships/image" Target="../media/gen1.gif"/><Relationship Id="rId12" Type="http://schemas.openxmlformats.org/officeDocument/2006/relationships/image" Target="../media/gen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9.gif"/><Relationship Id="rId8" Type="http://schemas.openxmlformats.org/officeDocument/2006/relationships/image" Target="../media/image10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pic>
        <p:nvPicPr>
          <p:cNvPr id="8" name="Synchronised frame (18 s)" descr="Recorded human demo (left) next to the LIBERO replay (right), 18 s into test_03_synchronised.mp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000" y="4100000"/>
            <a:ext cx="5900000" cy="2122939"/>
          </a:xfrm>
          <a:prstGeom prst="rect">
            <a:avLst/>
          </a:prstGeom>
        </p:spPr>
      </p:pic>
      <p:sp>
        <p:nvSpPr>
          <p:cNvPr id="9" name="Repository link">
            <a:hlinkClick r:id="rId4"/>
          </p:cNvPr>
          <p:cNvSpPr txBox="1"/>
          <p:nvPr/>
        </p:nvSpPr>
        <p:spPr>
          <a:xfrm>
            <a:off x="822960" y="4480560"/>
            <a:ext cx="5000000" cy="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600" u="sng">
                <a:solidFill>
                  <a:srgbClr val="8FD3CB"/>
                </a:solidFill>
                <a:latin typeface="Calibri"/>
              </a:rPr>
              <a:t>github.com/alfredowh/hurobo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Use real objects with the LIBERO bowl and plate dimensions; sim assets are scaled to match.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built. 12 of 26 recorded clips cleaned and usable.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Recorded episode and sim replay side by side on the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SceneTwin: recorded clip and LIBERO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15</a:t>
            </a:r>
          </a:p>
        </p:txBody>
      </p:sp>
      <p:pic>
        <p:nvPicPr>
          <p:cNvPr id="15" name="Replay GIF" descr="dataset_replay_synchronis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11064240" cy="398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Recorded episode (left, slowed) beside its LIBERO replay (right, paced).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15</a:t>
            </a:r>
          </a:p>
        </p:txBody>
      </p:sp>
      <p:pic>
        <p:nvPicPr>
          <p:cNvPr id="15" name="Picture 14" descr="episode_dashboa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One real clip, cut to a single grasp cycle. 12 of the 26 recorded clips were cleaned and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10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From 26 clips to 12 usable demos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15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hape 10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Filter frames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frames with no hand or two hands, a marker pose that reprojects badly (over 15 px), a hand at the image border, or depth outside 0.15 to 3 m.</a:t>
            </a:r>
          </a:p>
        </p:txBody>
      </p:sp>
      <p:sp>
        <p:nvSpPr>
          <p:cNvPr id="107" name="Shape 10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hape 10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Find the cycle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Keep the first gap-free run (gaps up to 0.4 s bridged) that holds open, closed, open. Pinches under 0.2 s and open gaps under 0.3 s count as noise.</a:t>
            </a:r>
          </a:p>
        </p:txBody>
      </p:sp>
      <p:sp>
        <p:nvSpPr>
          <p:cNvPr id="111" name="Shape 11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hape 11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Cut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Trim from the start of the run to 2 s after the release, so the hand’s retreat is kept.</a:t>
            </a:r>
          </a:p>
        </p:txBody>
      </p:sp>
      <p:sp>
        <p:nvSpPr>
          <p:cNvPr id="115" name="Shape 11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hape 11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Reject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clips shorter than 1.5 s, or without the board, bowl and plate marker in the first second.</a:t>
            </a:r>
          </a:p>
        </p:txBody>
      </p:sp>
      <p:sp>
        <p:nvSpPr>
          <p:cNvPr id="119" name="Shape 11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Result: 12 of the 26 recorded clips are cleaned and usable, each one grasp cycle.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Generating the robot demos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15</a:t>
            </a:r>
          </a:p>
        </p:txBody>
      </p:sp>
      <p:sp>
        <p:nvSpPr>
          <p:cNvPr id="123" name="Shape 12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hape 12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Sample layout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a random bowl and plate position in the size-matched LIBERO scene.</a:t>
            </a:r>
          </a:p>
        </p:txBody>
      </p:sp>
      <p:sp>
        <p:nvSpPr>
          <p:cNvPr id="127" name="Shape 12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hape 12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Pick sources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one of the 12 cleaned human demos at random for each rollout.</a:t>
            </a:r>
          </a:p>
        </p:txBody>
      </p:sp>
      <p:sp>
        <p:nvSpPr>
          <p:cNvPr id="131" name="Shape 13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hape 13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Re-anchor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Approach: the last 20 cm of the hand path, relative to the bowl. Carry: the bowl’s path, relative to the plate, ending over its centre. Both move with the new layout.</a:t>
            </a:r>
          </a:p>
        </p:txBody>
      </p:sp>
      <p:sp>
        <p:nvSpPr>
          <p:cNvPr id="135" name="Shape 13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hape 13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Execute, keep wins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Grasp at a fixed 4 cm height, fingers facing the rim; release 4 mm over the plate. Run closed loop in LIBERO and keep only the successes.</a:t>
            </a:r>
          </a:p>
        </p:txBody>
      </p:sp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First run, 12 clips: 100 successes of 170 attempts (59 %) in about 40 to 50 min, one process. Failures: 37 bowl not lifted, 33 timeouts.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Generated demos: camera 1 and 2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10 / 15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1</a:t>
            </a:r>
          </a:p>
        </p:txBody>
      </p:sp>
      <p:pic>
        <p:nvPicPr>
          <p:cNvPr id="60" name="Generated clip 60" descr="generated clip, camera 1 and camer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514600"/>
            <a:ext cx="3566160" cy="178308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429768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2</a:t>
            </a:r>
          </a:p>
        </p:txBody>
      </p:sp>
      <p:pic>
        <p:nvPicPr>
          <p:cNvPr id="61" name="Generated clip 61" descr="generated clip, camera 1 and camera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514600"/>
            <a:ext cx="3566160" cy="178308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804672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3</a:t>
            </a:r>
          </a:p>
        </p:txBody>
      </p:sp>
      <p:pic>
        <p:nvPicPr>
          <p:cNvPr id="62" name="Generated clip 62" descr="generated clip, camera 1 and camera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6720" y="2514600"/>
            <a:ext cx="3566160" cy="1783080"/>
          </a:xfrm>
          <a:prstGeom prst="rect">
            <a:avLst/>
          </a:prstGeom>
        </p:spPr>
      </p:pic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Objects are scaled to real size (bowl x1.23, plate x1.85 of LIBERO’s). Per clip: camera 1 (agent view) left, camera 2 (wrist)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Our fine-tuned SmolVLA on held-out layouts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12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Scaled scene, 20 held-out layouts, same for every policy. Starting from smolvla_libero beats starting from smolvla_base (14/20 vs 3/20, intervals do not overlap). One seed; the best checkpoint of each run was picked on other layouts (0 to 9).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smolvla_libero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70%  (95% CI 48 to 85%). Open loop: position error 0.075 against 0.137 for an all-zero chunk.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77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smolvla_base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651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15%  (95% CI 5 to 36%)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33832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lerobot/smolvla_libero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657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Pretrained, never saw our scene.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43891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HuggingFaceVLA/smolvla_libero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46634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Open loop: gripper sign right only 41%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13 / 15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15" name="Scene orbit GIF" descr="Sweep over the whole-scene spla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(splat orbit)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16" name="Bowl plate orbit GIF" descr="Sweep over the scanned bowl and plat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1910" y="3703320"/>
            <a:ext cx="2896819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orbit view.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faster demo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 (7 clips)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Default: 38 to 47 accepted per 100 to 120 attempts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Only 15 to 21 % within 300 steps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Screened MimicGen-style, best run: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of 125 (80 %), all within 300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About 4x more usable episodes per attempt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Every episode fits the 300-step evaluation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Drops the 3 of 7 clips that never succeed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Noise and source mixing add variety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Gain is mostly screening, speed, length filter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Control run missing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 policy trained on it yet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7 clips, one session, one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Optimization potential, not a result: not used for the 100-episode training set. Notebook 12, D-013.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12 usable clips; marker size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Done, on real clips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26 clips recorded, 12 cleaned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generated episodes (100 of 170 rollouts)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SmolVLA fine-tuned: 14/20 from smolvla_libero, 3/20 from smolvla_base; pretrained 0/20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Bowl, plate and scene scanned as splats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 = 50 evaluation, more seeds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Zero-shot and open-loop replay baselines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ACT baseline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Scene splat and collision meshes in LIBERO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Train on the faster generation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 One seed and N = 20: the intervals are 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